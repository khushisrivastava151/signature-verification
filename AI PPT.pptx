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1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9085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93876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02476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164141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03566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230514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69272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78670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13441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481864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06081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dt" idx="10"/>
          </p:nvPr>
        </p:nvSpPr>
        <p:spPr>
          <a:xfrm rot="0">
            <a:off x="457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r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Date/Time</a:t>
            </a:r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ftr"/>
          </p:nvPr>
        </p:nvSpPr>
        <p:spPr>
          <a:xfrm rot="0">
            <a:off x="3124200" y="6356349"/>
            <a:ext cx="2895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sldNum"/>
          </p:nvPr>
        </p:nvSpPr>
        <p:spPr>
          <a:xfrm rot="0">
            <a:off x="6553200" y="6356349"/>
            <a:ext cx="21336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532708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3/22/2025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63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pimg2.jpeg"/><Relationship Id="rId2" Type="http://schemas.openxmlformats.org/officeDocument/2006/relationships/image" Target="../media/pimg3.png"/><Relationship Id="rId3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pimg2.jpeg"/><Relationship Id="rId2" Type="http://schemas.openxmlformats.org/officeDocument/2006/relationships/image" Target="../media/pimg3.png"/><Relationship Id="rId3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pimg1.png"/><Relationship Id="rId2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曲线"/>
          <p:cNvSpPr>
            <a:spLocks/>
          </p:cNvSpPr>
          <p:nvPr/>
        </p:nvSpPr>
        <p:spPr>
          <a:xfrm rot="0">
            <a:off x="16834376" y="622825"/>
            <a:ext cx="811749" cy="8117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grpSp>
        <p:nvGrpSpPr>
          <p:cNvPr id="13" name="Combination"/>
          <p:cNvGrpSpPr>
            <a:grpSpLocks/>
          </p:cNvGrpSpPr>
          <p:nvPr/>
        </p:nvGrpSpPr>
        <p:grpSpPr>
          <a:xfrm>
            <a:off x="1028700" y="1100137"/>
            <a:ext cx="12386214" cy="6156007"/>
            <a:chOff x="1028700" y="1100137"/>
            <a:chExt cx="12386214" cy="6156007"/>
          </a:xfrm>
        </p:grpSpPr>
        <p:sp>
          <p:nvSpPr>
            <p:cNvPr id="11" name="Rectangle"/>
            <p:cNvSpPr>
              <a:spLocks/>
            </p:cNvSpPr>
            <p:nvPr/>
          </p:nvSpPr>
          <p:spPr>
            <a:xfrm rot="0">
              <a:off x="1028700" y="1100137"/>
              <a:ext cx="12386214" cy="402335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ts val="10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9600" b="0" i="0" u="none" strike="noStrike" kern="1200" cap="none" spc="0" baseline="0">
                  <a:solidFill>
                    <a:srgbClr val="3EDAD8"/>
                  </a:solidFill>
                  <a:latin typeface="Aileron Heavy" pitchFamily="0" charset="0"/>
                  <a:ea typeface="Aileron Heavy" pitchFamily="0" charset="0"/>
                  <a:cs typeface="Aileron Heavy" pitchFamily="0" charset="0"/>
                  <a:sym typeface="Aileron Heavy" pitchFamily="0" charset="0"/>
                </a:rPr>
                <a:t>Specialization Project: Signature Verification Using Python</a:t>
              </a:r>
              <a:endParaRPr lang="zh-CN" altLang="en-US" sz="9600" b="0" i="0" u="none" strike="noStrike" kern="1200" cap="none" spc="0" baseline="0">
                <a:solidFill>
                  <a:srgbClr val="3EDAD8"/>
                </a:solidFill>
                <a:latin typeface="Aileron Heavy" pitchFamily="0" charset="0"/>
                <a:ea typeface="Aileron Heavy" pitchFamily="0" charset="0"/>
                <a:cs typeface="Aileron Heavy" pitchFamily="0" charset="0"/>
                <a:sym typeface="Aileron Heavy" pitchFamily="0" charset="0"/>
              </a:endParaRPr>
            </a:p>
          </p:txBody>
        </p:sp>
        <p:sp>
          <p:nvSpPr>
            <p:cNvPr id="12" name="Rectangle"/>
            <p:cNvSpPr>
              <a:spLocks/>
            </p:cNvSpPr>
            <p:nvPr/>
          </p:nvSpPr>
          <p:spPr>
            <a:xfrm rot="0">
              <a:off x="1028700" y="6760845"/>
              <a:ext cx="12386214" cy="495300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ts val="3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000" b="0" i="0" u="none" strike="noStrike" kern="1200" cap="none" spc="300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PRESENTED BY : </a:t>
              </a:r>
              <a:r>
                <a:rPr lang="en-US" altLang="zh-CN" sz="3000" b="0" i="0" u="none" strike="noStrike" kern="1200" cap="none" spc="300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</a:rPr>
                <a:t>Ishika Saxena and Khushi Srivastava </a:t>
              </a:r>
              <a:endParaRPr lang="zh-CN" altLang="en-US" sz="3000" b="0" i="0" u="none" strike="noStrike" kern="1200" cap="none" spc="300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8351077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ombination"/>
          <p:cNvGrpSpPr>
            <a:grpSpLocks/>
          </p:cNvGrpSpPr>
          <p:nvPr/>
        </p:nvGrpSpPr>
        <p:grpSpPr>
          <a:xfrm>
            <a:off x="14573790" y="2605381"/>
            <a:ext cx="3618176" cy="3483676"/>
            <a:chOff x="14573790" y="2605381"/>
            <a:chExt cx="3618176" cy="3483676"/>
          </a:xfrm>
        </p:grpSpPr>
        <p:grpSp>
          <p:nvGrpSpPr>
            <p:cNvPr id="17" name="Combination"/>
            <p:cNvGrpSpPr>
              <a:grpSpLocks/>
            </p:cNvGrpSpPr>
            <p:nvPr/>
          </p:nvGrpSpPr>
          <p:grpSpPr>
            <a:xfrm rot="-5400000">
              <a:off x="14769995" y="3310152"/>
              <a:ext cx="3421971" cy="1994585"/>
              <a:chOff x="14769995" y="3310152"/>
              <a:chExt cx="3421971" cy="1994585"/>
            </a:xfrm>
          </p:grpSpPr>
          <p:sp>
            <p:nvSpPr>
              <p:cNvPr id="15" name="曲线"/>
              <p:cNvSpPr>
                <a:spLocks/>
              </p:cNvSpPr>
              <p:nvPr/>
            </p:nvSpPr>
            <p:spPr>
              <a:xfrm rot="0">
                <a:off x="14769995" y="3609581"/>
                <a:ext cx="3421971" cy="1695156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7203" y="20326"/>
                    </a:moveTo>
                    <a:cubicBezTo>
                      <a:pt x="8311" y="21095"/>
                      <a:pt x="9570" y="21600"/>
                      <a:pt x="10805" y="21600"/>
                    </a:cubicBezTo>
                    <a:cubicBezTo>
                      <a:pt x="12041" y="21600"/>
                      <a:pt x="13230" y="21167"/>
                      <a:pt x="14326" y="20398"/>
                    </a:cubicBezTo>
                    <a:cubicBezTo>
                      <a:pt x="14349" y="20374"/>
                      <a:pt x="14372" y="20374"/>
                      <a:pt x="14396" y="20350"/>
                    </a:cubicBezTo>
                    <a:cubicBezTo>
                      <a:pt x="18510" y="17276"/>
                      <a:pt x="21541" y="9157"/>
                      <a:pt x="21600" y="394"/>
                    </a:cubicBezTo>
                    <a:lnTo>
                      <a:pt x="21600" y="0"/>
                    </a:lnTo>
                    <a:lnTo>
                      <a:pt x="0" y="0"/>
                    </a:lnTo>
                    <a:lnTo>
                      <a:pt x="0" y="394"/>
                    </a:lnTo>
                    <a:cubicBezTo>
                      <a:pt x="58" y="9205"/>
                      <a:pt x="3042" y="17324"/>
                      <a:pt x="7203" y="203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mpd="sng" cap="sq">
                <a:solidFill>
                  <a:srgbClr val="3EDAD8"/>
                </a:solidFill>
                <a:prstDash val="solid"/>
                <a:miter/>
              </a:ln>
            </p:spPr>
          </p:sp>
          <p:sp>
            <p:nvSpPr>
              <p:cNvPr id="16" name="Rectangle"/>
              <p:cNvSpPr>
                <a:spLocks/>
              </p:cNvSpPr>
              <p:nvPr/>
            </p:nvSpPr>
            <p:spPr>
              <a:xfrm rot="0">
                <a:off x="14769995" y="3310152"/>
                <a:ext cx="3421971" cy="1329187"/>
              </a:xfrm>
              <a:prstGeom prst="rect"/>
              <a:noFill/>
              <a:ln w="12700" cmpd="sng" cap="flat">
                <a:noFill/>
                <a:prstDash val="solid"/>
                <a:miter/>
              </a:ln>
            </p:spPr>
          </p:sp>
        </p:grpSp>
        <p:grpSp>
          <p:nvGrpSpPr>
            <p:cNvPr id="20" name="Combination"/>
            <p:cNvGrpSpPr>
              <a:grpSpLocks/>
            </p:cNvGrpSpPr>
            <p:nvPr/>
          </p:nvGrpSpPr>
          <p:grpSpPr>
            <a:xfrm>
              <a:off x="14573790" y="2605381"/>
              <a:ext cx="1144780" cy="3483676"/>
              <a:chOff x="14573790" y="2605381"/>
              <a:chExt cx="1144780" cy="3483676"/>
            </a:xfrm>
          </p:grpSpPr>
          <p:sp>
            <p:nvSpPr>
              <p:cNvPr id="18" name="曲线"/>
              <p:cNvSpPr>
                <a:spLocks/>
              </p:cNvSpPr>
              <p:nvPr/>
            </p:nvSpPr>
            <p:spPr>
              <a:xfrm rot="0">
                <a:off x="14573790" y="2822373"/>
                <a:ext cx="1144780" cy="3266685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191919"/>
              </a:solidFill>
              <a:ln cmpd="sng" cap="flat">
                <a:noFill/>
                <a:prstDash val="solid"/>
                <a:miter/>
              </a:ln>
            </p:spPr>
          </p:sp>
          <p:sp>
            <p:nvSpPr>
              <p:cNvPr id="19" name="Rectangle"/>
              <p:cNvSpPr>
                <a:spLocks/>
              </p:cNvSpPr>
              <p:nvPr/>
            </p:nvSpPr>
            <p:spPr>
              <a:xfrm rot="0">
                <a:off x="14573790" y="2605381"/>
                <a:ext cx="1144780" cy="3483676"/>
              </a:xfrm>
              <a:prstGeom prst="rect"/>
              <a:noFill/>
              <a:ln w="12700" cmpd="sng" cap="flat">
                <a:noFill/>
                <a:prstDash val="solid"/>
                <a:miter/>
              </a:ln>
            </p:spPr>
          </p:sp>
        </p:grpSp>
      </p:grpSp>
      <p:grpSp>
        <p:nvGrpSpPr>
          <p:cNvPr id="24" name="Combination"/>
          <p:cNvGrpSpPr>
            <a:grpSpLocks/>
          </p:cNvGrpSpPr>
          <p:nvPr/>
        </p:nvGrpSpPr>
        <p:grpSpPr>
          <a:xfrm>
            <a:off x="12925147" y="2605381"/>
            <a:ext cx="2653673" cy="3497772"/>
            <a:chOff x="12925147" y="2605381"/>
            <a:chExt cx="2653673" cy="3497772"/>
          </a:xfrm>
        </p:grpSpPr>
        <p:sp>
          <p:nvSpPr>
            <p:cNvPr id="22" name="曲线"/>
            <p:cNvSpPr>
              <a:spLocks/>
            </p:cNvSpPr>
            <p:nvPr/>
          </p:nvSpPr>
          <p:spPr>
            <a:xfrm rot="0">
              <a:off x="12925147" y="2822373"/>
              <a:ext cx="2653673" cy="328078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91919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3" name="Rectangle"/>
            <p:cNvSpPr>
              <a:spLocks/>
            </p:cNvSpPr>
            <p:nvPr/>
          </p:nvSpPr>
          <p:spPr>
            <a:xfrm rot="0">
              <a:off x="12925147" y="2605381"/>
              <a:ext cx="2653673" cy="3497772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25" name="Straight line"/>
          <p:cNvSpPr>
            <a:spLocks/>
          </p:cNvSpPr>
          <p:nvPr/>
        </p:nvSpPr>
        <p:spPr>
          <a:xfrm rot="0">
            <a:off x="1028700" y="2746173"/>
            <a:ext cx="14614226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grpSp>
        <p:nvGrpSpPr>
          <p:cNvPr id="32" name="Combination"/>
          <p:cNvGrpSpPr>
            <a:grpSpLocks/>
          </p:cNvGrpSpPr>
          <p:nvPr/>
        </p:nvGrpSpPr>
        <p:grpSpPr>
          <a:xfrm>
            <a:off x="878985" y="5942231"/>
            <a:ext cx="2906076" cy="3492598"/>
            <a:chOff x="878985" y="5942231"/>
            <a:chExt cx="2906076" cy="3492598"/>
          </a:xfrm>
        </p:grpSpPr>
        <p:grpSp>
          <p:nvGrpSpPr>
            <p:cNvPr id="28" name="Combination"/>
            <p:cNvGrpSpPr>
              <a:grpSpLocks/>
            </p:cNvGrpSpPr>
            <p:nvPr/>
          </p:nvGrpSpPr>
          <p:grpSpPr>
            <a:xfrm rot="5400000">
              <a:off x="165291" y="6655925"/>
              <a:ext cx="3421973" cy="1994584"/>
              <a:chOff x="165291" y="6655925"/>
              <a:chExt cx="3421973" cy="1994584"/>
            </a:xfrm>
          </p:grpSpPr>
          <p:sp>
            <p:nvSpPr>
              <p:cNvPr id="26" name="曲线"/>
              <p:cNvSpPr>
                <a:spLocks/>
              </p:cNvSpPr>
              <p:nvPr/>
            </p:nvSpPr>
            <p:spPr>
              <a:xfrm rot="0">
                <a:off x="165291" y="6955354"/>
                <a:ext cx="3421973" cy="1695155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7203" y="20326"/>
                    </a:moveTo>
                    <a:cubicBezTo>
                      <a:pt x="8311" y="21095"/>
                      <a:pt x="9570" y="21600"/>
                      <a:pt x="10805" y="21600"/>
                    </a:cubicBezTo>
                    <a:cubicBezTo>
                      <a:pt x="12041" y="21600"/>
                      <a:pt x="13230" y="21167"/>
                      <a:pt x="14326" y="20398"/>
                    </a:cubicBezTo>
                    <a:cubicBezTo>
                      <a:pt x="14349" y="20374"/>
                      <a:pt x="14372" y="20374"/>
                      <a:pt x="14396" y="20350"/>
                    </a:cubicBezTo>
                    <a:cubicBezTo>
                      <a:pt x="18510" y="17276"/>
                      <a:pt x="21541" y="9157"/>
                      <a:pt x="21600" y="394"/>
                    </a:cubicBezTo>
                    <a:lnTo>
                      <a:pt x="21600" y="0"/>
                    </a:lnTo>
                    <a:lnTo>
                      <a:pt x="0" y="0"/>
                    </a:lnTo>
                    <a:lnTo>
                      <a:pt x="0" y="394"/>
                    </a:lnTo>
                    <a:cubicBezTo>
                      <a:pt x="58" y="9205"/>
                      <a:pt x="3042" y="17324"/>
                      <a:pt x="7203" y="203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mpd="sng" cap="sq">
                <a:solidFill>
                  <a:srgbClr val="3EDAD8"/>
                </a:solidFill>
                <a:prstDash val="solid"/>
                <a:miter/>
              </a:ln>
            </p:spPr>
          </p:sp>
          <p:sp>
            <p:nvSpPr>
              <p:cNvPr id="27" name="Rectangle"/>
              <p:cNvSpPr>
                <a:spLocks/>
              </p:cNvSpPr>
              <p:nvPr/>
            </p:nvSpPr>
            <p:spPr>
              <a:xfrm rot="0">
                <a:off x="165291" y="6655925"/>
                <a:ext cx="3421973" cy="1329187"/>
              </a:xfrm>
              <a:prstGeom prst="rect"/>
              <a:noFill/>
              <a:ln w="12700" cmpd="sng" cap="flat">
                <a:noFill/>
                <a:prstDash val="solid"/>
                <a:miter/>
              </a:ln>
            </p:spPr>
          </p:sp>
        </p:grpSp>
        <p:grpSp>
          <p:nvGrpSpPr>
            <p:cNvPr id="31" name="Combination"/>
            <p:cNvGrpSpPr>
              <a:grpSpLocks/>
            </p:cNvGrpSpPr>
            <p:nvPr/>
          </p:nvGrpSpPr>
          <p:grpSpPr>
            <a:xfrm>
              <a:off x="2640281" y="5951155"/>
              <a:ext cx="1144780" cy="3483675"/>
              <a:chOff x="2640281" y="5951155"/>
              <a:chExt cx="1144780" cy="3483675"/>
            </a:xfrm>
          </p:grpSpPr>
          <p:sp>
            <p:nvSpPr>
              <p:cNvPr id="29" name="曲线"/>
              <p:cNvSpPr>
                <a:spLocks/>
              </p:cNvSpPr>
              <p:nvPr/>
            </p:nvSpPr>
            <p:spPr>
              <a:xfrm rot="0">
                <a:off x="2640281" y="6168145"/>
                <a:ext cx="1144780" cy="3266684"/>
              </a:xfrm>
              <a:custGeom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rect l="T1" t="T2" r="T3" b="T4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191919"/>
              </a:solidFill>
              <a:ln cmpd="sng" cap="flat">
                <a:noFill/>
                <a:prstDash val="solid"/>
                <a:miter/>
              </a:ln>
            </p:spPr>
          </p:sp>
          <p:sp>
            <p:nvSpPr>
              <p:cNvPr id="30" name="Rectangle"/>
              <p:cNvSpPr>
                <a:spLocks/>
              </p:cNvSpPr>
              <p:nvPr/>
            </p:nvSpPr>
            <p:spPr>
              <a:xfrm rot="0">
                <a:off x="2640281" y="5951155"/>
                <a:ext cx="1144780" cy="3483675"/>
              </a:xfrm>
              <a:prstGeom prst="rect"/>
              <a:noFill/>
              <a:ln w="12700" cmpd="sng" cap="flat">
                <a:noFill/>
                <a:prstDash val="solid"/>
                <a:miter/>
              </a:ln>
            </p:spPr>
          </p:sp>
        </p:grpSp>
      </p:grpSp>
      <p:sp>
        <p:nvSpPr>
          <p:cNvPr id="33" name="Straight line"/>
          <p:cNvSpPr>
            <a:spLocks/>
          </p:cNvSpPr>
          <p:nvPr/>
        </p:nvSpPr>
        <p:spPr>
          <a:xfrm rot="-11689">
            <a:off x="2720723" y="9413073"/>
            <a:ext cx="14495856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34" name="Straight line"/>
          <p:cNvSpPr>
            <a:spLocks/>
          </p:cNvSpPr>
          <p:nvPr/>
        </p:nvSpPr>
        <p:spPr>
          <a:xfrm rot="0">
            <a:off x="2720636" y="6091945"/>
            <a:ext cx="12922291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35" name="Straight line"/>
          <p:cNvSpPr>
            <a:spLocks/>
          </p:cNvSpPr>
          <p:nvPr/>
        </p:nvSpPr>
        <p:spPr>
          <a:xfrm rot="5400000">
            <a:off x="2224899" y="3161554"/>
            <a:ext cx="830762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sp>
        <p:nvSpPr>
          <p:cNvPr id="36" name="Straight line"/>
          <p:cNvSpPr>
            <a:spLocks/>
          </p:cNvSpPr>
          <p:nvPr/>
        </p:nvSpPr>
        <p:spPr>
          <a:xfrm rot="5400000">
            <a:off x="6002871" y="3161554"/>
            <a:ext cx="830762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sp>
        <p:nvSpPr>
          <p:cNvPr id="37" name="Straight line"/>
          <p:cNvSpPr>
            <a:spLocks/>
          </p:cNvSpPr>
          <p:nvPr/>
        </p:nvSpPr>
        <p:spPr>
          <a:xfrm rot="5400000">
            <a:off x="9809418" y="3161554"/>
            <a:ext cx="830763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sp>
        <p:nvSpPr>
          <p:cNvPr id="38" name="Straight line"/>
          <p:cNvSpPr>
            <a:spLocks/>
          </p:cNvSpPr>
          <p:nvPr/>
        </p:nvSpPr>
        <p:spPr>
          <a:xfrm rot="5400000">
            <a:off x="13654066" y="3161554"/>
            <a:ext cx="830763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sp>
        <p:nvSpPr>
          <p:cNvPr id="39" name="Straight line"/>
          <p:cNvSpPr>
            <a:spLocks/>
          </p:cNvSpPr>
          <p:nvPr/>
        </p:nvSpPr>
        <p:spPr>
          <a:xfrm rot="5400000">
            <a:off x="4388921" y="6507327"/>
            <a:ext cx="830762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sp>
        <p:nvSpPr>
          <p:cNvPr id="40" name="Straight line"/>
          <p:cNvSpPr>
            <a:spLocks/>
          </p:cNvSpPr>
          <p:nvPr/>
        </p:nvSpPr>
        <p:spPr>
          <a:xfrm rot="5400000">
            <a:off x="8728618" y="6507327"/>
            <a:ext cx="830762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sp>
        <p:nvSpPr>
          <p:cNvPr id="41" name="Straight line"/>
          <p:cNvSpPr>
            <a:spLocks/>
          </p:cNvSpPr>
          <p:nvPr/>
        </p:nvSpPr>
        <p:spPr>
          <a:xfrm rot="5400000">
            <a:off x="13068315" y="6507327"/>
            <a:ext cx="830763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  <a:tailEnd type="oval" w="lg" len="lg"/>
          </a:ln>
        </p:spPr>
      </p:sp>
      <p:grpSp>
        <p:nvGrpSpPr>
          <p:cNvPr id="44" name="Combination"/>
          <p:cNvGrpSpPr>
            <a:grpSpLocks/>
          </p:cNvGrpSpPr>
          <p:nvPr/>
        </p:nvGrpSpPr>
        <p:grpSpPr>
          <a:xfrm>
            <a:off x="1028700" y="3900752"/>
            <a:ext cx="3146962" cy="1040796"/>
            <a:chOff x="1028700" y="3900752"/>
            <a:chExt cx="3146962" cy="1040796"/>
          </a:xfrm>
        </p:grpSpPr>
        <p:sp>
          <p:nvSpPr>
            <p:cNvPr id="42" name="Rectangle"/>
            <p:cNvSpPr>
              <a:spLocks/>
            </p:cNvSpPr>
            <p:nvPr/>
          </p:nvSpPr>
          <p:spPr>
            <a:xfrm rot="0">
              <a:off x="1028700" y="3900752"/>
              <a:ext cx="3146962" cy="52831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1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43" name="Rectangle"/>
            <p:cNvSpPr>
              <a:spLocks/>
            </p:cNvSpPr>
            <p:nvPr/>
          </p:nvSpPr>
          <p:spPr>
            <a:xfrm rot="0">
              <a:off x="1028700" y="4522576"/>
              <a:ext cx="3146962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Introduction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47" name="Combination"/>
          <p:cNvGrpSpPr>
            <a:grpSpLocks/>
          </p:cNvGrpSpPr>
          <p:nvPr/>
        </p:nvGrpSpPr>
        <p:grpSpPr>
          <a:xfrm>
            <a:off x="4806672" y="3900752"/>
            <a:ext cx="3146962" cy="1040796"/>
            <a:chOff x="4806672" y="3900752"/>
            <a:chExt cx="3146962" cy="1040796"/>
          </a:xfrm>
        </p:grpSpPr>
        <p:sp>
          <p:nvSpPr>
            <p:cNvPr id="45" name="Rectangle"/>
            <p:cNvSpPr>
              <a:spLocks/>
            </p:cNvSpPr>
            <p:nvPr/>
          </p:nvSpPr>
          <p:spPr>
            <a:xfrm rot="0">
              <a:off x="4806672" y="3900752"/>
              <a:ext cx="3146962" cy="52831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2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46" name="Rectangle"/>
            <p:cNvSpPr>
              <a:spLocks/>
            </p:cNvSpPr>
            <p:nvPr/>
          </p:nvSpPr>
          <p:spPr>
            <a:xfrm rot="0">
              <a:off x="4806672" y="4522576"/>
              <a:ext cx="3146962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Abstract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50" name="Combination"/>
          <p:cNvGrpSpPr>
            <a:grpSpLocks/>
          </p:cNvGrpSpPr>
          <p:nvPr/>
        </p:nvGrpSpPr>
        <p:grpSpPr>
          <a:xfrm>
            <a:off x="8584644" y="3900752"/>
            <a:ext cx="3280312" cy="1040796"/>
            <a:chOff x="8584644" y="3900752"/>
            <a:chExt cx="3280312" cy="1040796"/>
          </a:xfrm>
        </p:grpSpPr>
        <p:sp>
          <p:nvSpPr>
            <p:cNvPr id="48" name="Rectangle"/>
            <p:cNvSpPr>
              <a:spLocks/>
            </p:cNvSpPr>
            <p:nvPr/>
          </p:nvSpPr>
          <p:spPr>
            <a:xfrm rot="0">
              <a:off x="8584644" y="3900752"/>
              <a:ext cx="3280312" cy="52831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3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49" name="Rectangle"/>
            <p:cNvSpPr>
              <a:spLocks/>
            </p:cNvSpPr>
            <p:nvPr/>
          </p:nvSpPr>
          <p:spPr>
            <a:xfrm rot="0">
              <a:off x="8584644" y="4522576"/>
              <a:ext cx="3280312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Methodology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53" name="Combination"/>
          <p:cNvGrpSpPr>
            <a:grpSpLocks/>
          </p:cNvGrpSpPr>
          <p:nvPr/>
        </p:nvGrpSpPr>
        <p:grpSpPr>
          <a:xfrm>
            <a:off x="12495965" y="3900752"/>
            <a:ext cx="3146962" cy="1040796"/>
            <a:chOff x="12495965" y="3900752"/>
            <a:chExt cx="3146962" cy="1040796"/>
          </a:xfrm>
        </p:grpSpPr>
        <p:sp>
          <p:nvSpPr>
            <p:cNvPr id="51" name="Rectangle"/>
            <p:cNvSpPr>
              <a:spLocks/>
            </p:cNvSpPr>
            <p:nvPr/>
          </p:nvSpPr>
          <p:spPr>
            <a:xfrm rot="0">
              <a:off x="12495965" y="3900752"/>
              <a:ext cx="3146962" cy="52831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4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52" name="Rectangle"/>
            <p:cNvSpPr>
              <a:spLocks/>
            </p:cNvSpPr>
            <p:nvPr/>
          </p:nvSpPr>
          <p:spPr>
            <a:xfrm rot="0">
              <a:off x="12495965" y="4522576"/>
              <a:ext cx="3146962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Python Libraries Used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56" name="Combination"/>
          <p:cNvGrpSpPr>
            <a:grpSpLocks/>
          </p:cNvGrpSpPr>
          <p:nvPr/>
        </p:nvGrpSpPr>
        <p:grpSpPr>
          <a:xfrm>
            <a:off x="3230821" y="7377562"/>
            <a:ext cx="3146962" cy="1040796"/>
            <a:chOff x="3230821" y="7377562"/>
            <a:chExt cx="3146962" cy="1040796"/>
          </a:xfrm>
        </p:grpSpPr>
        <p:sp>
          <p:nvSpPr>
            <p:cNvPr id="54" name="Rectangle"/>
            <p:cNvSpPr>
              <a:spLocks/>
            </p:cNvSpPr>
            <p:nvPr/>
          </p:nvSpPr>
          <p:spPr>
            <a:xfrm rot="0">
              <a:off x="3230821" y="7377562"/>
              <a:ext cx="3146962" cy="5283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5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55" name="Rectangle"/>
            <p:cNvSpPr>
              <a:spLocks/>
            </p:cNvSpPr>
            <p:nvPr/>
          </p:nvSpPr>
          <p:spPr>
            <a:xfrm rot="0">
              <a:off x="3230821" y="7999385"/>
              <a:ext cx="3146962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Program Flow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59" name="Combination"/>
          <p:cNvGrpSpPr>
            <a:grpSpLocks/>
          </p:cNvGrpSpPr>
          <p:nvPr/>
        </p:nvGrpSpPr>
        <p:grpSpPr>
          <a:xfrm>
            <a:off x="7570519" y="7377562"/>
            <a:ext cx="3146962" cy="1459770"/>
            <a:chOff x="7570519" y="7377562"/>
            <a:chExt cx="3146962" cy="1459770"/>
          </a:xfrm>
        </p:grpSpPr>
        <p:sp>
          <p:nvSpPr>
            <p:cNvPr id="57" name="Rectangle"/>
            <p:cNvSpPr>
              <a:spLocks/>
            </p:cNvSpPr>
            <p:nvPr/>
          </p:nvSpPr>
          <p:spPr>
            <a:xfrm rot="0">
              <a:off x="7570519" y="7377562"/>
              <a:ext cx="3146962" cy="5283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6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58" name="Rectangle"/>
            <p:cNvSpPr>
              <a:spLocks/>
            </p:cNvSpPr>
            <p:nvPr/>
          </p:nvSpPr>
          <p:spPr>
            <a:xfrm rot="0">
              <a:off x="7570519" y="7999386"/>
              <a:ext cx="3146962" cy="83794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Advantages / Limitations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62" name="Combination"/>
          <p:cNvGrpSpPr>
            <a:grpSpLocks/>
          </p:cNvGrpSpPr>
          <p:nvPr/>
        </p:nvGrpSpPr>
        <p:grpSpPr>
          <a:xfrm>
            <a:off x="11910216" y="7377562"/>
            <a:ext cx="3146963" cy="1040797"/>
            <a:chOff x="11910216" y="7377562"/>
            <a:chExt cx="3146963" cy="1040797"/>
          </a:xfrm>
        </p:grpSpPr>
        <p:sp>
          <p:nvSpPr>
            <p:cNvPr id="60" name="Rectangle"/>
            <p:cNvSpPr>
              <a:spLocks/>
            </p:cNvSpPr>
            <p:nvPr/>
          </p:nvSpPr>
          <p:spPr>
            <a:xfrm rot="0">
              <a:off x="11910216" y="7377562"/>
              <a:ext cx="3146963" cy="528320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4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160" baseline="0">
                  <a:solidFill>
                    <a:srgbClr val="3EDAD8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7</a:t>
              </a:r>
              <a:endParaRPr lang="zh-CN" altLang="en-US" sz="3200" b="0" i="0" u="none" strike="noStrike" kern="1200" cap="none" spc="160" baseline="0">
                <a:solidFill>
                  <a:srgbClr val="3EDAD8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  <p:sp>
          <p:nvSpPr>
            <p:cNvPr id="61" name="Rectangle"/>
            <p:cNvSpPr>
              <a:spLocks/>
            </p:cNvSpPr>
            <p:nvPr/>
          </p:nvSpPr>
          <p:spPr>
            <a:xfrm rot="0">
              <a:off x="11910216" y="7999386"/>
              <a:ext cx="3146963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Future Implementations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65" name="Combination"/>
          <p:cNvGrpSpPr>
            <a:grpSpLocks/>
          </p:cNvGrpSpPr>
          <p:nvPr/>
        </p:nvGrpSpPr>
        <p:grpSpPr>
          <a:xfrm>
            <a:off x="1028700" y="915458"/>
            <a:ext cx="16305391" cy="1109535"/>
            <a:chOff x="1028700" y="915458"/>
            <a:chExt cx="16305391" cy="1109535"/>
          </a:xfrm>
        </p:grpSpPr>
        <p:sp>
          <p:nvSpPr>
            <p:cNvPr id="63" name="Rectangle"/>
            <p:cNvSpPr>
              <a:spLocks/>
            </p:cNvSpPr>
            <p:nvPr/>
          </p:nvSpPr>
          <p:spPr>
            <a:xfrm rot="0">
              <a:off x="1028700" y="915458"/>
              <a:ext cx="16305391" cy="594360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ts val="4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600" b="0" i="0" u="none" strike="noStrike" kern="1200" cap="none" spc="107" baseline="0">
                  <a:solidFill>
                    <a:srgbClr val="3EDAD8"/>
                  </a:solidFill>
                  <a:latin typeface="Aileron Heavy" pitchFamily="0" charset="0"/>
                  <a:ea typeface="Aileron Heavy" pitchFamily="0" charset="0"/>
                  <a:cs typeface="Aileron Heavy" pitchFamily="0" charset="0"/>
                  <a:sym typeface="Aileron Heavy" pitchFamily="0" charset="0"/>
                </a:rPr>
                <a:t>Specialization Project: Signature Verification System Using Python</a:t>
              </a:r>
              <a:endParaRPr lang="zh-CN" altLang="en-US" sz="3600" b="0" i="0" u="none" strike="noStrike" kern="1200" cap="none" spc="107" baseline="0">
                <a:solidFill>
                  <a:srgbClr val="3EDAD8"/>
                </a:solidFill>
                <a:latin typeface="Aileron Heavy" pitchFamily="0" charset="0"/>
                <a:ea typeface="Aileron Heavy" pitchFamily="0" charset="0"/>
                <a:cs typeface="Aileron Heavy" pitchFamily="0" charset="0"/>
                <a:sym typeface="Aileron Heavy" pitchFamily="0" charset="0"/>
              </a:endParaRPr>
            </a:p>
          </p:txBody>
        </p:sp>
        <p:sp>
          <p:nvSpPr>
            <p:cNvPr id="64" name="Rectangle"/>
            <p:cNvSpPr>
              <a:spLocks/>
            </p:cNvSpPr>
            <p:nvPr/>
          </p:nvSpPr>
          <p:spPr>
            <a:xfrm rot="0">
              <a:off x="1028700" y="1606020"/>
              <a:ext cx="16305391" cy="418973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l">
                <a:lnSpc>
                  <a:spcPts val="32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2199" b="0" i="0" u="none" strike="noStrike" kern="1200" cap="none" spc="65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Content</a:t>
              </a:r>
              <a:endParaRPr lang="zh-CN" altLang="en-US" sz="2199" b="0" i="0" u="none" strike="noStrike" kern="1200" cap="none" spc="65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859930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"/>
          <p:cNvSpPr>
            <a:spLocks/>
          </p:cNvSpPr>
          <p:nvPr/>
        </p:nvSpPr>
        <p:spPr>
          <a:xfrm rot="0">
            <a:off x="10287636" y="0"/>
            <a:ext cx="8000364" cy="10287000"/>
          </a:xfrm>
          <a:prstGeom prst="rect"/>
          <a:solidFill>
            <a:srgbClr val="3EDAD8"/>
          </a:solidFill>
          <a:ln w="12700" cmpd="sng" cap="flat">
            <a:noFill/>
            <a:prstDash val="solid"/>
            <a:miter/>
          </a:ln>
        </p:spPr>
      </p:sp>
      <p:sp>
        <p:nvSpPr>
          <p:cNvPr id="67" name="曲线"/>
          <p:cNvSpPr>
            <a:spLocks/>
          </p:cNvSpPr>
          <p:nvPr/>
        </p:nvSpPr>
        <p:spPr>
          <a:xfrm rot="0">
            <a:off x="10287636" y="0"/>
            <a:ext cx="8000364" cy="10287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80000"/>
            </a:blip>
            <a:stretch>
              <a:fillRect l="-22048" r="-70944"/>
            </a:stretch>
          </a:blipFill>
          <a:ln cmpd="sng" cap="flat">
            <a:noFill/>
            <a:prstDash val="solid"/>
            <a:miter/>
          </a:ln>
        </p:spPr>
      </p:sp>
      <p:grpSp>
        <p:nvGrpSpPr>
          <p:cNvPr id="70" name="Combination"/>
          <p:cNvGrpSpPr>
            <a:grpSpLocks/>
          </p:cNvGrpSpPr>
          <p:nvPr/>
        </p:nvGrpSpPr>
        <p:grpSpPr>
          <a:xfrm>
            <a:off x="0" y="-114576"/>
            <a:ext cx="3620425" cy="287084"/>
            <a:chOff x="0" y="-114576"/>
            <a:chExt cx="3620425" cy="287084"/>
          </a:xfrm>
        </p:grpSpPr>
        <p:sp>
          <p:nvSpPr>
            <p:cNvPr id="68" name="曲线"/>
            <p:cNvSpPr>
              <a:spLocks/>
            </p:cNvSpPr>
            <p:nvPr/>
          </p:nvSpPr>
          <p:spPr>
            <a:xfrm rot="0">
              <a:off x="0" y="102420"/>
              <a:ext cx="3620425" cy="700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69" name="Rectangle"/>
            <p:cNvSpPr>
              <a:spLocks/>
            </p:cNvSpPr>
            <p:nvPr/>
          </p:nvSpPr>
          <p:spPr>
            <a:xfrm rot="0">
              <a:off x="0" y="-114576"/>
              <a:ext cx="3620425" cy="28708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71" name="曲线"/>
          <p:cNvSpPr>
            <a:spLocks/>
          </p:cNvSpPr>
          <p:nvPr/>
        </p:nvSpPr>
        <p:spPr>
          <a:xfrm rot="0">
            <a:off x="16834376" y="622825"/>
            <a:ext cx="811749" cy="8117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72" name="Rectangle"/>
          <p:cNvSpPr>
            <a:spLocks/>
          </p:cNvSpPr>
          <p:nvPr/>
        </p:nvSpPr>
        <p:spPr>
          <a:xfrm rot="0">
            <a:off x="1028700" y="990600"/>
            <a:ext cx="8214262" cy="11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8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-215" baseline="0">
                <a:solidFill>
                  <a:srgbClr val="3EDAD8"/>
                </a:solidFill>
                <a:latin typeface="Aileron Ultra-Bold" pitchFamily="0" charset="0"/>
                <a:ea typeface="Aileron Ultra-Bold" pitchFamily="0" charset="0"/>
                <a:cs typeface="Aileron Ultra-Bold" pitchFamily="0" charset="0"/>
                <a:sym typeface="Aileron Ultra-Bold" pitchFamily="0" charset="0"/>
              </a:rPr>
              <a:t>Introduction</a:t>
            </a:r>
            <a:endParaRPr lang="zh-CN" altLang="en-US" sz="7200" b="0" i="0" u="none" strike="noStrike" kern="1200" cap="none" spc="-215" baseline="0">
              <a:solidFill>
                <a:srgbClr val="3EDAD8"/>
              </a:solidFill>
              <a:latin typeface="Aileron Ultra-Bold" pitchFamily="0" charset="0"/>
              <a:ea typeface="Aileron Ultra-Bold" pitchFamily="0" charset="0"/>
              <a:cs typeface="Aileron Ultra-Bold" pitchFamily="0" charset="0"/>
              <a:sym typeface="Aileron Ultra-Bold" pitchFamily="0" charset="0"/>
            </a:endParaRPr>
          </a:p>
        </p:txBody>
      </p:sp>
      <p:sp>
        <p:nvSpPr>
          <p:cNvPr id="73" name="Rectangle"/>
          <p:cNvSpPr>
            <a:spLocks/>
          </p:cNvSpPr>
          <p:nvPr/>
        </p:nvSpPr>
        <p:spPr>
          <a:xfrm rot="5400000">
            <a:off x="13341718" y="5593842"/>
            <a:ext cx="7825638" cy="396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360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SIGNATURE VERIFICATION USING PYTHON</a:t>
            </a:r>
            <a:endParaRPr lang="zh-CN" altLang="en-US" sz="2400" b="0" i="0" u="none" strike="noStrike" kern="1200" cap="none" spc="360" baseline="0">
              <a:solidFill>
                <a:srgbClr val="FFFFFF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74" name="Rectangle"/>
          <p:cNvSpPr>
            <a:spLocks/>
          </p:cNvSpPr>
          <p:nvPr/>
        </p:nvSpPr>
        <p:spPr>
          <a:xfrm rot="0">
            <a:off x="1028700" y="3283077"/>
            <a:ext cx="8411211" cy="46400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Every individual has a unique signature used for identification and verification.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Signature verification is essential in preventing forgery and falsification, particularly in financial, legal, and commercial settings.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Traditional manual verification methods are error-prone and insufficient against advanced forgery techniques.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</p:txBody>
      </p:sp>
      <p:sp>
        <p:nvSpPr>
          <p:cNvPr id="75" name="Straight line"/>
          <p:cNvSpPr>
            <a:spLocks/>
          </p:cNvSpPr>
          <p:nvPr/>
        </p:nvSpPr>
        <p:spPr>
          <a:xfrm rot="0">
            <a:off x="1028700" y="9239250"/>
            <a:ext cx="8115300" cy="0"/>
          </a:xfrm>
          <a:prstGeom prst="line"/>
          <a:noFill/>
          <a:ln w="38100" cmpd="sng" cap="flat">
            <a:solidFill>
              <a:srgbClr val="FFFFFF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907604982"/>
      </p:ext>
    </p:extLst>
  </p:cSld>
  <p:clrMapOvr>
    <a:masterClrMapping/>
  </p:clrMapOvr>
  <p:transition>
    <p:fade/>
  </p:transition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"/>
          <p:cNvSpPr>
            <a:spLocks/>
          </p:cNvSpPr>
          <p:nvPr/>
        </p:nvSpPr>
        <p:spPr>
          <a:xfrm rot="0">
            <a:off x="10287636" y="0"/>
            <a:ext cx="8000364" cy="10287000"/>
          </a:xfrm>
          <a:prstGeom prst="rect"/>
          <a:solidFill>
            <a:srgbClr val="3EDAD8"/>
          </a:solidFill>
          <a:ln w="12700" cmpd="sng" cap="flat">
            <a:noFill/>
            <a:prstDash val="solid"/>
            <a:miter/>
          </a:ln>
        </p:spPr>
      </p:sp>
      <p:sp>
        <p:nvSpPr>
          <p:cNvPr id="77" name="曲线"/>
          <p:cNvSpPr>
            <a:spLocks/>
          </p:cNvSpPr>
          <p:nvPr/>
        </p:nvSpPr>
        <p:spPr>
          <a:xfrm rot="0">
            <a:off x="10287636" y="0"/>
            <a:ext cx="8000364" cy="10287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80000"/>
            </a:blip>
            <a:stretch>
              <a:fillRect l="-22048" r="-70944"/>
            </a:stretch>
          </a:blipFill>
          <a:ln cmpd="sng" cap="flat">
            <a:noFill/>
            <a:prstDash val="solid"/>
            <a:miter/>
          </a:ln>
        </p:spPr>
      </p:sp>
      <p:grpSp>
        <p:nvGrpSpPr>
          <p:cNvPr id="80" name="Combination"/>
          <p:cNvGrpSpPr>
            <a:grpSpLocks/>
          </p:cNvGrpSpPr>
          <p:nvPr/>
        </p:nvGrpSpPr>
        <p:grpSpPr>
          <a:xfrm>
            <a:off x="0" y="-114576"/>
            <a:ext cx="3620425" cy="287084"/>
            <a:chOff x="0" y="-114576"/>
            <a:chExt cx="3620425" cy="287084"/>
          </a:xfrm>
        </p:grpSpPr>
        <p:sp>
          <p:nvSpPr>
            <p:cNvPr id="78" name="曲线"/>
            <p:cNvSpPr>
              <a:spLocks/>
            </p:cNvSpPr>
            <p:nvPr/>
          </p:nvSpPr>
          <p:spPr>
            <a:xfrm rot="0">
              <a:off x="0" y="102420"/>
              <a:ext cx="3620425" cy="70088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9" name="Rectangle"/>
            <p:cNvSpPr>
              <a:spLocks/>
            </p:cNvSpPr>
            <p:nvPr/>
          </p:nvSpPr>
          <p:spPr>
            <a:xfrm rot="0">
              <a:off x="0" y="-114576"/>
              <a:ext cx="3620425" cy="287084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81" name="曲线"/>
          <p:cNvSpPr>
            <a:spLocks/>
          </p:cNvSpPr>
          <p:nvPr/>
        </p:nvSpPr>
        <p:spPr>
          <a:xfrm rot="0">
            <a:off x="16834376" y="622825"/>
            <a:ext cx="811749" cy="8117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82" name="Rectangle"/>
          <p:cNvSpPr>
            <a:spLocks/>
          </p:cNvSpPr>
          <p:nvPr/>
        </p:nvSpPr>
        <p:spPr>
          <a:xfrm rot="0">
            <a:off x="1028700" y="990600"/>
            <a:ext cx="8214262" cy="11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8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200" b="0" i="0" u="none" strike="noStrike" kern="1200" cap="none" spc="-215" baseline="0">
                <a:solidFill>
                  <a:srgbClr val="3EDAD8"/>
                </a:solidFill>
                <a:latin typeface="Aileron Ultra-Bold" pitchFamily="0" charset="0"/>
                <a:ea typeface="Aileron Ultra-Bold" pitchFamily="0" charset="0"/>
                <a:cs typeface="Aileron Ultra-Bold" pitchFamily="0" charset="0"/>
                <a:sym typeface="Aileron Ultra-Bold" pitchFamily="0" charset="0"/>
              </a:rPr>
              <a:t>Abstract</a:t>
            </a:r>
            <a:endParaRPr lang="zh-CN" altLang="en-US" sz="7200" b="0" i="0" u="none" strike="noStrike" kern="1200" cap="none" spc="-215" baseline="0">
              <a:solidFill>
                <a:srgbClr val="3EDAD8"/>
              </a:solidFill>
              <a:latin typeface="Aileron Ultra-Bold" pitchFamily="0" charset="0"/>
              <a:ea typeface="Aileron Ultra-Bold" pitchFamily="0" charset="0"/>
              <a:cs typeface="Aileron Ultra-Bold" pitchFamily="0" charset="0"/>
              <a:sym typeface="Aileron Ultra-Bold" pitchFamily="0" charset="0"/>
            </a:endParaRPr>
          </a:p>
        </p:txBody>
      </p:sp>
      <p:sp>
        <p:nvSpPr>
          <p:cNvPr id="83" name="Rectangle"/>
          <p:cNvSpPr>
            <a:spLocks/>
          </p:cNvSpPr>
          <p:nvPr/>
        </p:nvSpPr>
        <p:spPr>
          <a:xfrm rot="5400000">
            <a:off x="13341718" y="5593842"/>
            <a:ext cx="7825638" cy="396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360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SIGNATURE VERIFICATION USING PYTHON</a:t>
            </a:r>
            <a:endParaRPr lang="zh-CN" altLang="en-US" sz="2400" b="0" i="0" u="none" strike="noStrike" kern="1200" cap="none" spc="360" baseline="0">
              <a:solidFill>
                <a:srgbClr val="FFFFFF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84" name="Rectangle"/>
          <p:cNvSpPr>
            <a:spLocks/>
          </p:cNvSpPr>
          <p:nvPr/>
        </p:nvSpPr>
        <p:spPr>
          <a:xfrm rot="0">
            <a:off x="1028700" y="3189733"/>
            <a:ext cx="8411211" cy="453379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Develop a signature verification system using Python.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Utilize image processing techniques and similarity metrics to compare signatures.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Need for Automation.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To ensure accuracy.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To reduce time and effort in verifying large sets of signatures.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</p:txBody>
      </p:sp>
      <p:sp>
        <p:nvSpPr>
          <p:cNvPr id="85" name="Straight line"/>
          <p:cNvSpPr>
            <a:spLocks/>
          </p:cNvSpPr>
          <p:nvPr/>
        </p:nvSpPr>
        <p:spPr>
          <a:xfrm rot="0">
            <a:off x="1028700" y="9239250"/>
            <a:ext cx="8115300" cy="0"/>
          </a:xfrm>
          <a:prstGeom prst="line"/>
          <a:noFill/>
          <a:ln w="38100" cmpd="sng" cap="flat">
            <a:solidFill>
              <a:srgbClr val="FFFFFF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75371991"/>
      </p:ext>
    </p:extLst>
  </p:cSld>
  <p:clrMapOvr>
    <a:masterClrMapping/>
  </p:clrMapOvr>
  <p:transition>
    <p:fade/>
  </p:transition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"/>
          <p:cNvSpPr>
            <a:spLocks/>
          </p:cNvSpPr>
          <p:nvPr/>
        </p:nvSpPr>
        <p:spPr>
          <a:xfrm rot="0">
            <a:off x="570494" y="7113269"/>
            <a:ext cx="2676631" cy="41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Convert to grayscale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87" name="Rectangle"/>
          <p:cNvSpPr>
            <a:spLocks/>
          </p:cNvSpPr>
          <p:nvPr/>
        </p:nvSpPr>
        <p:spPr>
          <a:xfrm rot="0">
            <a:off x="2981321" y="4773295"/>
            <a:ext cx="4681831" cy="41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Preprocess Signature Images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88" name="Rectangle"/>
          <p:cNvSpPr>
            <a:spLocks/>
          </p:cNvSpPr>
          <p:nvPr/>
        </p:nvSpPr>
        <p:spPr>
          <a:xfrm rot="0">
            <a:off x="4080930" y="7113269"/>
            <a:ext cx="2676631" cy="8379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Apply Gaussian blur to reduce noise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89" name="Straight line"/>
          <p:cNvSpPr>
            <a:spLocks/>
          </p:cNvSpPr>
          <p:nvPr/>
        </p:nvSpPr>
        <p:spPr>
          <a:xfrm rot="0">
            <a:off x="2352671" y="6229350"/>
            <a:ext cx="2626520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90" name="Rectangle"/>
          <p:cNvSpPr>
            <a:spLocks/>
          </p:cNvSpPr>
          <p:nvPr/>
        </p:nvSpPr>
        <p:spPr>
          <a:xfrm rot="0">
            <a:off x="7587560" y="7113269"/>
            <a:ext cx="2676631" cy="1256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Apply thresholding to binarize the image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91" name="Rectangle"/>
          <p:cNvSpPr>
            <a:spLocks/>
          </p:cNvSpPr>
          <p:nvPr/>
        </p:nvSpPr>
        <p:spPr>
          <a:xfrm rot="0">
            <a:off x="11094189" y="7113269"/>
            <a:ext cx="2676630" cy="20948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Structural Similarity Index (SSIM) provides a similarity score between two images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92" name="Rectangle"/>
          <p:cNvSpPr>
            <a:spLocks/>
          </p:cNvSpPr>
          <p:nvPr/>
        </p:nvSpPr>
        <p:spPr>
          <a:xfrm rot="0">
            <a:off x="10824394" y="4806315"/>
            <a:ext cx="4481383" cy="41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Compare Signatures Using SSIM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93" name="Rectangle"/>
          <p:cNvSpPr>
            <a:spLocks/>
          </p:cNvSpPr>
          <p:nvPr/>
        </p:nvSpPr>
        <p:spPr>
          <a:xfrm rot="0">
            <a:off x="14600820" y="7113269"/>
            <a:ext cx="2676630" cy="20948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The score is between -1 and 1. A score closer to 1 indicates a higher similarity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grpSp>
        <p:nvGrpSpPr>
          <p:cNvPr id="96" name="Combination"/>
          <p:cNvGrpSpPr>
            <a:grpSpLocks/>
          </p:cNvGrpSpPr>
          <p:nvPr/>
        </p:nvGrpSpPr>
        <p:grpSpPr>
          <a:xfrm>
            <a:off x="3020827" y="1228248"/>
            <a:ext cx="12246345" cy="1251108"/>
            <a:chOff x="3020827" y="1228248"/>
            <a:chExt cx="12246345" cy="1251108"/>
          </a:xfrm>
        </p:grpSpPr>
        <p:sp>
          <p:nvSpPr>
            <p:cNvPr id="94" name="Rectangle"/>
            <p:cNvSpPr>
              <a:spLocks/>
            </p:cNvSpPr>
            <p:nvPr/>
          </p:nvSpPr>
          <p:spPr>
            <a:xfrm rot="0">
              <a:off x="3020827" y="1228248"/>
              <a:ext cx="12246345" cy="79247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6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4800" b="0" i="0" u="none" strike="noStrike" kern="1200" cap="none" spc="144" baseline="0">
                  <a:solidFill>
                    <a:srgbClr val="3EDAD8"/>
                  </a:solidFill>
                  <a:latin typeface="Aileron Heavy" pitchFamily="0" charset="0"/>
                  <a:ea typeface="Aileron Heavy" pitchFamily="0" charset="0"/>
                  <a:cs typeface="Aileron Heavy" pitchFamily="0" charset="0"/>
                  <a:sym typeface="Aileron Heavy" pitchFamily="0" charset="0"/>
                </a:rPr>
                <a:t>Methodology</a:t>
              </a:r>
              <a:endParaRPr lang="zh-CN" altLang="en-US" sz="4800" b="0" i="0" u="none" strike="noStrike" kern="1200" cap="none" spc="144" baseline="0">
                <a:solidFill>
                  <a:srgbClr val="3EDAD8"/>
                </a:solidFill>
                <a:latin typeface="Aileron Heavy" pitchFamily="0" charset="0"/>
                <a:ea typeface="Aileron Heavy" pitchFamily="0" charset="0"/>
                <a:cs typeface="Aileron Heavy" pitchFamily="0" charset="0"/>
                <a:sym typeface="Aileron Heavy" pitchFamily="0" charset="0"/>
              </a:endParaRPr>
            </a:p>
          </p:txBody>
        </p:sp>
        <p:sp>
          <p:nvSpPr>
            <p:cNvPr id="95" name="Rectangle"/>
            <p:cNvSpPr>
              <a:spLocks/>
            </p:cNvSpPr>
            <p:nvPr/>
          </p:nvSpPr>
          <p:spPr>
            <a:xfrm rot="0">
              <a:off x="3020827" y="2110739"/>
              <a:ext cx="12246345" cy="36861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99" name="Combination"/>
          <p:cNvGrpSpPr>
            <a:grpSpLocks/>
          </p:cNvGrpSpPr>
          <p:nvPr/>
        </p:nvGrpSpPr>
        <p:grpSpPr>
          <a:xfrm>
            <a:off x="16192499" y="9920256"/>
            <a:ext cx="2283180" cy="384936"/>
            <a:chOff x="16192499" y="9920256"/>
            <a:chExt cx="2283180" cy="384936"/>
          </a:xfrm>
        </p:grpSpPr>
        <p:sp>
          <p:nvSpPr>
            <p:cNvPr id="97" name="曲线"/>
            <p:cNvSpPr>
              <a:spLocks/>
            </p:cNvSpPr>
            <p:nvPr/>
          </p:nvSpPr>
          <p:spPr>
            <a:xfrm rot="0">
              <a:off x="16192499" y="10137247"/>
              <a:ext cx="2283180" cy="16794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98" name="Rectangle"/>
            <p:cNvSpPr>
              <a:spLocks/>
            </p:cNvSpPr>
            <p:nvPr/>
          </p:nvSpPr>
          <p:spPr>
            <a:xfrm rot="0">
              <a:off x="16192499" y="9920256"/>
              <a:ext cx="2283180" cy="38493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02" name="Combination"/>
          <p:cNvGrpSpPr>
            <a:grpSpLocks/>
          </p:cNvGrpSpPr>
          <p:nvPr/>
        </p:nvGrpSpPr>
        <p:grpSpPr>
          <a:xfrm>
            <a:off x="1472561" y="5768668"/>
            <a:ext cx="880109" cy="900737"/>
            <a:chOff x="1472561" y="5768668"/>
            <a:chExt cx="880109" cy="900737"/>
          </a:xfrm>
        </p:grpSpPr>
        <p:sp>
          <p:nvSpPr>
            <p:cNvPr id="100" name="曲线"/>
            <p:cNvSpPr>
              <a:spLocks/>
            </p:cNvSpPr>
            <p:nvPr/>
          </p:nvSpPr>
          <p:spPr>
            <a:xfrm rot="0">
              <a:off x="1472561" y="5789295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01" name="Rectangle"/>
            <p:cNvSpPr>
              <a:spLocks/>
            </p:cNvSpPr>
            <p:nvPr/>
          </p:nvSpPr>
          <p:spPr>
            <a:xfrm rot="0">
              <a:off x="1555071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1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05" name="Combination"/>
          <p:cNvGrpSpPr>
            <a:grpSpLocks/>
          </p:cNvGrpSpPr>
          <p:nvPr/>
        </p:nvGrpSpPr>
        <p:grpSpPr>
          <a:xfrm>
            <a:off x="4979191" y="5768668"/>
            <a:ext cx="880110" cy="900737"/>
            <a:chOff x="4979191" y="5768668"/>
            <a:chExt cx="880110" cy="900737"/>
          </a:xfrm>
        </p:grpSpPr>
        <p:sp>
          <p:nvSpPr>
            <p:cNvPr id="103" name="曲线"/>
            <p:cNvSpPr>
              <a:spLocks/>
            </p:cNvSpPr>
            <p:nvPr/>
          </p:nvSpPr>
          <p:spPr>
            <a:xfrm rot="0">
              <a:off x="4979191" y="5789295"/>
              <a:ext cx="880110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04" name="Rectangle"/>
            <p:cNvSpPr>
              <a:spLocks/>
            </p:cNvSpPr>
            <p:nvPr/>
          </p:nvSpPr>
          <p:spPr>
            <a:xfrm rot="0">
              <a:off x="5061702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2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08" name="Combination"/>
          <p:cNvGrpSpPr>
            <a:grpSpLocks/>
          </p:cNvGrpSpPr>
          <p:nvPr/>
        </p:nvGrpSpPr>
        <p:grpSpPr>
          <a:xfrm>
            <a:off x="8485820" y="5768668"/>
            <a:ext cx="880110" cy="900737"/>
            <a:chOff x="8485820" y="5768668"/>
            <a:chExt cx="880110" cy="900737"/>
          </a:xfrm>
        </p:grpSpPr>
        <p:sp>
          <p:nvSpPr>
            <p:cNvPr id="106" name="曲线"/>
            <p:cNvSpPr>
              <a:spLocks/>
            </p:cNvSpPr>
            <p:nvPr/>
          </p:nvSpPr>
          <p:spPr>
            <a:xfrm rot="0">
              <a:off x="8485820" y="5789295"/>
              <a:ext cx="880110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07" name="Rectangle"/>
            <p:cNvSpPr>
              <a:spLocks/>
            </p:cNvSpPr>
            <p:nvPr/>
          </p:nvSpPr>
          <p:spPr>
            <a:xfrm rot="0">
              <a:off x="8568331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3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11" name="Combination"/>
          <p:cNvGrpSpPr>
            <a:grpSpLocks/>
          </p:cNvGrpSpPr>
          <p:nvPr/>
        </p:nvGrpSpPr>
        <p:grpSpPr>
          <a:xfrm>
            <a:off x="11992450" y="5768668"/>
            <a:ext cx="880109" cy="900737"/>
            <a:chOff x="11992450" y="5768668"/>
            <a:chExt cx="880109" cy="900737"/>
          </a:xfrm>
        </p:grpSpPr>
        <p:sp>
          <p:nvSpPr>
            <p:cNvPr id="109" name="曲线"/>
            <p:cNvSpPr>
              <a:spLocks/>
            </p:cNvSpPr>
            <p:nvPr/>
          </p:nvSpPr>
          <p:spPr>
            <a:xfrm rot="0">
              <a:off x="11992450" y="5789295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13538A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0" name="Rectangle"/>
            <p:cNvSpPr>
              <a:spLocks/>
            </p:cNvSpPr>
            <p:nvPr/>
          </p:nvSpPr>
          <p:spPr>
            <a:xfrm rot="0">
              <a:off x="12074960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4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14" name="Combination"/>
          <p:cNvGrpSpPr>
            <a:grpSpLocks/>
          </p:cNvGrpSpPr>
          <p:nvPr/>
        </p:nvGrpSpPr>
        <p:grpSpPr>
          <a:xfrm>
            <a:off x="15499081" y="5768668"/>
            <a:ext cx="880109" cy="900737"/>
            <a:chOff x="15499081" y="5768668"/>
            <a:chExt cx="880109" cy="900737"/>
          </a:xfrm>
        </p:grpSpPr>
        <p:sp>
          <p:nvSpPr>
            <p:cNvPr id="112" name="曲线"/>
            <p:cNvSpPr>
              <a:spLocks/>
            </p:cNvSpPr>
            <p:nvPr/>
          </p:nvSpPr>
          <p:spPr>
            <a:xfrm rot="0">
              <a:off x="15499081" y="5789295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3" name="Rectangle"/>
            <p:cNvSpPr>
              <a:spLocks/>
            </p:cNvSpPr>
            <p:nvPr/>
          </p:nvSpPr>
          <p:spPr>
            <a:xfrm rot="0">
              <a:off x="15581590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5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sp>
        <p:nvSpPr>
          <p:cNvPr id="115" name="Straight line"/>
          <p:cNvSpPr>
            <a:spLocks/>
          </p:cNvSpPr>
          <p:nvPr/>
        </p:nvSpPr>
        <p:spPr>
          <a:xfrm rot="0">
            <a:off x="5859301" y="6229350"/>
            <a:ext cx="2626520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16" name="Straight line"/>
          <p:cNvSpPr>
            <a:spLocks/>
          </p:cNvSpPr>
          <p:nvPr/>
        </p:nvSpPr>
        <p:spPr>
          <a:xfrm rot="0">
            <a:off x="9365930" y="6229350"/>
            <a:ext cx="2626520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17" name="Straight line"/>
          <p:cNvSpPr>
            <a:spLocks/>
          </p:cNvSpPr>
          <p:nvPr/>
        </p:nvSpPr>
        <p:spPr>
          <a:xfrm rot="0">
            <a:off x="12872559" y="6229350"/>
            <a:ext cx="2626519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18" name="Straight line"/>
          <p:cNvSpPr>
            <a:spLocks/>
          </p:cNvSpPr>
          <p:nvPr/>
        </p:nvSpPr>
        <p:spPr>
          <a:xfrm rot="0">
            <a:off x="13524115" y="6229350"/>
            <a:ext cx="2415020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822632210"/>
      </p:ext>
    </p:extLst>
  </p:cSld>
  <p:clrMapOvr>
    <a:masterClrMapping/>
  </p:clrMapOvr>
  <p:transition>
    <p:fade/>
  </p:transition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"/>
          <p:cNvSpPr>
            <a:spLocks/>
          </p:cNvSpPr>
          <p:nvPr/>
        </p:nvSpPr>
        <p:spPr>
          <a:xfrm rot="0">
            <a:off x="570494" y="7113269"/>
            <a:ext cx="2683190" cy="25138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For image processing (grayscale conversion, thresholding, and resizing).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120" name="Rectangle"/>
          <p:cNvSpPr>
            <a:spLocks/>
          </p:cNvSpPr>
          <p:nvPr/>
        </p:nvSpPr>
        <p:spPr>
          <a:xfrm rot="0">
            <a:off x="570494" y="4690110"/>
            <a:ext cx="2676631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OpenCV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  <p:sp>
        <p:nvSpPr>
          <p:cNvPr id="121" name="Rectangle"/>
          <p:cNvSpPr>
            <a:spLocks/>
          </p:cNvSpPr>
          <p:nvPr/>
        </p:nvSpPr>
        <p:spPr>
          <a:xfrm rot="0">
            <a:off x="7587560" y="4690110"/>
            <a:ext cx="2676631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scikit-image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  <p:sp>
        <p:nvSpPr>
          <p:cNvPr id="122" name="Straight line"/>
          <p:cNvSpPr>
            <a:spLocks/>
          </p:cNvSpPr>
          <p:nvPr/>
        </p:nvSpPr>
        <p:spPr>
          <a:xfrm rot="0">
            <a:off x="2352671" y="6229350"/>
            <a:ext cx="6573205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23" name="Rectangle"/>
          <p:cNvSpPr>
            <a:spLocks/>
          </p:cNvSpPr>
          <p:nvPr/>
        </p:nvSpPr>
        <p:spPr>
          <a:xfrm rot="0">
            <a:off x="7587560" y="7113269"/>
            <a:ext cx="2676631" cy="1256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For calculating the Structural Similarity Index (SSIM)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124" name="Rectangle"/>
          <p:cNvSpPr>
            <a:spLocks/>
          </p:cNvSpPr>
          <p:nvPr/>
        </p:nvSpPr>
        <p:spPr>
          <a:xfrm rot="0">
            <a:off x="14600820" y="7113269"/>
            <a:ext cx="2676630" cy="16758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For numerical operations on image matrices.</a:t>
            </a:r>
            <a:endParaRPr lang="en-US" altLang="zh-CN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grpSp>
        <p:nvGrpSpPr>
          <p:cNvPr id="127" name="Combination"/>
          <p:cNvGrpSpPr>
            <a:grpSpLocks/>
          </p:cNvGrpSpPr>
          <p:nvPr/>
        </p:nvGrpSpPr>
        <p:grpSpPr>
          <a:xfrm>
            <a:off x="3020827" y="1228248"/>
            <a:ext cx="12246345" cy="1251108"/>
            <a:chOff x="3020827" y="1228248"/>
            <a:chExt cx="12246345" cy="1251108"/>
          </a:xfrm>
        </p:grpSpPr>
        <p:sp>
          <p:nvSpPr>
            <p:cNvPr id="125" name="Rectangle"/>
            <p:cNvSpPr>
              <a:spLocks/>
            </p:cNvSpPr>
            <p:nvPr/>
          </p:nvSpPr>
          <p:spPr>
            <a:xfrm rot="0">
              <a:off x="3020827" y="1228248"/>
              <a:ext cx="12246345" cy="79247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6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4800" b="0" i="0" u="none" strike="noStrike" kern="1200" cap="none" spc="144" baseline="0">
                  <a:solidFill>
                    <a:srgbClr val="3EDAD8"/>
                  </a:solidFill>
                  <a:latin typeface="Aileron Heavy" pitchFamily="0" charset="0"/>
                  <a:ea typeface="Aileron Heavy" pitchFamily="0" charset="0"/>
                  <a:cs typeface="Aileron Heavy" pitchFamily="0" charset="0"/>
                  <a:sym typeface="Aileron Heavy" pitchFamily="0" charset="0"/>
                </a:rPr>
                <a:t>Key Python Libraries Used</a:t>
              </a:r>
              <a:endParaRPr lang="zh-CN" altLang="en-US" sz="4800" b="0" i="0" u="none" strike="noStrike" kern="1200" cap="none" spc="144" baseline="0">
                <a:solidFill>
                  <a:srgbClr val="3EDAD8"/>
                </a:solidFill>
                <a:latin typeface="Aileron Heavy" pitchFamily="0" charset="0"/>
                <a:ea typeface="Aileron Heavy" pitchFamily="0" charset="0"/>
                <a:cs typeface="Aileron Heavy" pitchFamily="0" charset="0"/>
                <a:sym typeface="Aileron Heavy" pitchFamily="0" charset="0"/>
              </a:endParaRPr>
            </a:p>
          </p:txBody>
        </p:sp>
        <p:sp>
          <p:nvSpPr>
            <p:cNvPr id="126" name="Rectangle"/>
            <p:cNvSpPr>
              <a:spLocks/>
            </p:cNvSpPr>
            <p:nvPr/>
          </p:nvSpPr>
          <p:spPr>
            <a:xfrm rot="0">
              <a:off x="3020827" y="2110739"/>
              <a:ext cx="12246345" cy="36861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30" name="Combination"/>
          <p:cNvGrpSpPr>
            <a:grpSpLocks/>
          </p:cNvGrpSpPr>
          <p:nvPr/>
        </p:nvGrpSpPr>
        <p:grpSpPr>
          <a:xfrm>
            <a:off x="16192499" y="9920256"/>
            <a:ext cx="2283180" cy="384936"/>
            <a:chOff x="16192499" y="9920256"/>
            <a:chExt cx="2283180" cy="384936"/>
          </a:xfrm>
        </p:grpSpPr>
        <p:sp>
          <p:nvSpPr>
            <p:cNvPr id="128" name="曲线"/>
            <p:cNvSpPr>
              <a:spLocks/>
            </p:cNvSpPr>
            <p:nvPr/>
          </p:nvSpPr>
          <p:spPr>
            <a:xfrm rot="0">
              <a:off x="16192499" y="10137247"/>
              <a:ext cx="2283180" cy="16794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29" name="Rectangle"/>
            <p:cNvSpPr>
              <a:spLocks/>
            </p:cNvSpPr>
            <p:nvPr/>
          </p:nvSpPr>
          <p:spPr>
            <a:xfrm rot="0">
              <a:off x="16192499" y="9920256"/>
              <a:ext cx="2283180" cy="38493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33" name="Combination"/>
          <p:cNvGrpSpPr>
            <a:grpSpLocks/>
          </p:cNvGrpSpPr>
          <p:nvPr/>
        </p:nvGrpSpPr>
        <p:grpSpPr>
          <a:xfrm>
            <a:off x="1472561" y="5768668"/>
            <a:ext cx="880109" cy="900737"/>
            <a:chOff x="1472561" y="5768668"/>
            <a:chExt cx="880109" cy="900737"/>
          </a:xfrm>
        </p:grpSpPr>
        <p:sp>
          <p:nvSpPr>
            <p:cNvPr id="131" name="曲线"/>
            <p:cNvSpPr>
              <a:spLocks/>
            </p:cNvSpPr>
            <p:nvPr/>
          </p:nvSpPr>
          <p:spPr>
            <a:xfrm rot="0">
              <a:off x="1472561" y="5789295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32" name="Rectangle"/>
            <p:cNvSpPr>
              <a:spLocks/>
            </p:cNvSpPr>
            <p:nvPr/>
          </p:nvSpPr>
          <p:spPr>
            <a:xfrm rot="0">
              <a:off x="1555071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1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36" name="Combination"/>
          <p:cNvGrpSpPr>
            <a:grpSpLocks/>
          </p:cNvGrpSpPr>
          <p:nvPr/>
        </p:nvGrpSpPr>
        <p:grpSpPr>
          <a:xfrm>
            <a:off x="8485820" y="5768668"/>
            <a:ext cx="880110" cy="900737"/>
            <a:chOff x="8485820" y="5768668"/>
            <a:chExt cx="880110" cy="900737"/>
          </a:xfrm>
        </p:grpSpPr>
        <p:sp>
          <p:nvSpPr>
            <p:cNvPr id="134" name="曲线"/>
            <p:cNvSpPr>
              <a:spLocks/>
            </p:cNvSpPr>
            <p:nvPr/>
          </p:nvSpPr>
          <p:spPr>
            <a:xfrm rot="0">
              <a:off x="8485820" y="5789295"/>
              <a:ext cx="880110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35" name="Rectangle"/>
            <p:cNvSpPr>
              <a:spLocks/>
            </p:cNvSpPr>
            <p:nvPr/>
          </p:nvSpPr>
          <p:spPr>
            <a:xfrm rot="0">
              <a:off x="8568331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2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39" name="Combination"/>
          <p:cNvGrpSpPr>
            <a:grpSpLocks/>
          </p:cNvGrpSpPr>
          <p:nvPr/>
        </p:nvGrpSpPr>
        <p:grpSpPr>
          <a:xfrm>
            <a:off x="15499081" y="5768668"/>
            <a:ext cx="880109" cy="900737"/>
            <a:chOff x="15499081" y="5768668"/>
            <a:chExt cx="880109" cy="900737"/>
          </a:xfrm>
        </p:grpSpPr>
        <p:sp>
          <p:nvSpPr>
            <p:cNvPr id="137" name="曲线"/>
            <p:cNvSpPr>
              <a:spLocks/>
            </p:cNvSpPr>
            <p:nvPr/>
          </p:nvSpPr>
          <p:spPr>
            <a:xfrm rot="0">
              <a:off x="15499081" y="5789295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38" name="Rectangle"/>
            <p:cNvSpPr>
              <a:spLocks/>
            </p:cNvSpPr>
            <p:nvPr/>
          </p:nvSpPr>
          <p:spPr>
            <a:xfrm rot="0">
              <a:off x="15581590" y="5768668"/>
              <a:ext cx="715089" cy="818226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3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sp>
        <p:nvSpPr>
          <p:cNvPr id="140" name="Straight line"/>
          <p:cNvSpPr>
            <a:spLocks/>
          </p:cNvSpPr>
          <p:nvPr/>
        </p:nvSpPr>
        <p:spPr>
          <a:xfrm rot="0">
            <a:off x="9365930" y="6229350"/>
            <a:ext cx="6133151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41" name="Rectangle"/>
          <p:cNvSpPr>
            <a:spLocks/>
          </p:cNvSpPr>
          <p:nvPr/>
        </p:nvSpPr>
        <p:spPr>
          <a:xfrm rot="0">
            <a:off x="14604625" y="4690110"/>
            <a:ext cx="2676630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NumPy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7823"/>
      </p:ext>
    </p:extLst>
  </p:cSld>
  <p:clrMapOvr>
    <a:masterClrMapping/>
  </p:clrMapOvr>
  <p:transition>
    <p:fade/>
  </p:transition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"/>
          <p:cNvSpPr>
            <a:spLocks/>
          </p:cNvSpPr>
          <p:nvPr/>
        </p:nvSpPr>
        <p:spPr>
          <a:xfrm rot="0">
            <a:off x="570494" y="7113269"/>
            <a:ext cx="2683190" cy="1256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Two signature images (reference and test signature).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143" name="Rectangle"/>
          <p:cNvSpPr>
            <a:spLocks/>
          </p:cNvSpPr>
          <p:nvPr/>
        </p:nvSpPr>
        <p:spPr>
          <a:xfrm rot="0">
            <a:off x="570494" y="4690110"/>
            <a:ext cx="2676631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Input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  <p:sp>
        <p:nvSpPr>
          <p:cNvPr id="144" name="Rectangle"/>
          <p:cNvSpPr>
            <a:spLocks/>
          </p:cNvSpPr>
          <p:nvPr/>
        </p:nvSpPr>
        <p:spPr>
          <a:xfrm rot="0">
            <a:off x="4913370" y="4690110"/>
            <a:ext cx="3346967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Pre-Processing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  <p:sp>
        <p:nvSpPr>
          <p:cNvPr id="145" name="Straight line"/>
          <p:cNvSpPr>
            <a:spLocks/>
          </p:cNvSpPr>
          <p:nvPr/>
        </p:nvSpPr>
        <p:spPr>
          <a:xfrm rot="0">
            <a:off x="2352671" y="6220778"/>
            <a:ext cx="3796664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46" name="Rectangle"/>
          <p:cNvSpPr>
            <a:spLocks/>
          </p:cNvSpPr>
          <p:nvPr/>
        </p:nvSpPr>
        <p:spPr>
          <a:xfrm rot="0">
            <a:off x="5251075" y="7113269"/>
            <a:ext cx="2676630" cy="167589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Convert images to grayscale, apply Gaussian blur, and threshold.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147" name="Rectangle"/>
          <p:cNvSpPr>
            <a:spLocks/>
          </p:cNvSpPr>
          <p:nvPr/>
        </p:nvSpPr>
        <p:spPr>
          <a:xfrm rot="0">
            <a:off x="9927957" y="7113269"/>
            <a:ext cx="2676630" cy="20948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Compute SSIM to determine the similarity score between the two signatures.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sp>
        <p:nvSpPr>
          <p:cNvPr id="148" name="Rectangle"/>
          <p:cNvSpPr>
            <a:spLocks/>
          </p:cNvSpPr>
          <p:nvPr/>
        </p:nvSpPr>
        <p:spPr>
          <a:xfrm rot="0">
            <a:off x="14600820" y="7113269"/>
            <a:ext cx="2676630" cy="20948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99" b="0" i="0" u="none" strike="noStrike" kern="1200" cap="none" spc="65" baseline="0">
                <a:solidFill>
                  <a:srgbClr val="191919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rPr>
              <a:t>Output the similarity score and a message indicating whether the signatures match.</a:t>
            </a:r>
            <a:endParaRPr lang="zh-CN" altLang="en-US" sz="2199" b="0" i="0" u="none" strike="noStrike" kern="1200" cap="none" spc="65" baseline="0">
              <a:solidFill>
                <a:srgbClr val="191919"/>
              </a:solidFill>
              <a:latin typeface="Aileron" pitchFamily="0" charset="0"/>
              <a:ea typeface="Aileron" pitchFamily="0" charset="0"/>
              <a:cs typeface="Aileron" pitchFamily="0" charset="0"/>
              <a:sym typeface="Aileron" pitchFamily="0" charset="0"/>
            </a:endParaRPr>
          </a:p>
        </p:txBody>
      </p:sp>
      <p:grpSp>
        <p:nvGrpSpPr>
          <p:cNvPr id="151" name="Combination"/>
          <p:cNvGrpSpPr>
            <a:grpSpLocks/>
          </p:cNvGrpSpPr>
          <p:nvPr/>
        </p:nvGrpSpPr>
        <p:grpSpPr>
          <a:xfrm>
            <a:off x="3020827" y="1228248"/>
            <a:ext cx="12246345" cy="1251108"/>
            <a:chOff x="3020827" y="1228248"/>
            <a:chExt cx="12246345" cy="1251108"/>
          </a:xfrm>
        </p:grpSpPr>
        <p:sp>
          <p:nvSpPr>
            <p:cNvPr id="149" name="Rectangle"/>
            <p:cNvSpPr>
              <a:spLocks/>
            </p:cNvSpPr>
            <p:nvPr/>
          </p:nvSpPr>
          <p:spPr>
            <a:xfrm rot="0">
              <a:off x="3020827" y="1228248"/>
              <a:ext cx="12246345" cy="792479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0" tIns="0" rIns="0" bIns="0" anchor="t" anchorCtr="0">
              <a:prstTxWarp prst="textNoShape"/>
              <a:spAutoFit/>
            </a:bodyPr>
            <a:lstStyle/>
            <a:p>
              <a:pPr marL="0" indent="0" algn="ctr">
                <a:lnSpc>
                  <a:spcPts val="62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4800" b="0" i="0" u="none" strike="noStrike" kern="1200" cap="none" spc="144" baseline="0">
                  <a:solidFill>
                    <a:srgbClr val="3EDAD8"/>
                  </a:solidFill>
                  <a:latin typeface="Aileron Heavy" pitchFamily="0" charset="0"/>
                  <a:ea typeface="Aileron Heavy" pitchFamily="0" charset="0"/>
                  <a:cs typeface="Aileron Heavy" pitchFamily="0" charset="0"/>
                  <a:sym typeface="Aileron Heavy" pitchFamily="0" charset="0"/>
                </a:rPr>
                <a:t>Program Flow</a:t>
              </a:r>
              <a:endParaRPr lang="zh-CN" altLang="en-US" sz="4800" b="0" i="0" u="none" strike="noStrike" kern="1200" cap="none" spc="144" baseline="0">
                <a:solidFill>
                  <a:srgbClr val="3EDAD8"/>
                </a:solidFill>
                <a:latin typeface="Aileron Heavy" pitchFamily="0" charset="0"/>
                <a:ea typeface="Aileron Heavy" pitchFamily="0" charset="0"/>
                <a:cs typeface="Aileron Heavy" pitchFamily="0" charset="0"/>
                <a:sym typeface="Aileron Heavy" pitchFamily="0" charset="0"/>
              </a:endParaRPr>
            </a:p>
          </p:txBody>
        </p:sp>
        <p:sp>
          <p:nvSpPr>
            <p:cNvPr id="150" name="Rectangle"/>
            <p:cNvSpPr>
              <a:spLocks/>
            </p:cNvSpPr>
            <p:nvPr/>
          </p:nvSpPr>
          <p:spPr>
            <a:xfrm rot="0">
              <a:off x="3020827" y="2110739"/>
              <a:ext cx="12246345" cy="36861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54" name="Combination"/>
          <p:cNvGrpSpPr>
            <a:grpSpLocks/>
          </p:cNvGrpSpPr>
          <p:nvPr/>
        </p:nvGrpSpPr>
        <p:grpSpPr>
          <a:xfrm>
            <a:off x="16192499" y="9920256"/>
            <a:ext cx="2283180" cy="384936"/>
            <a:chOff x="16192499" y="9920256"/>
            <a:chExt cx="2283180" cy="384936"/>
          </a:xfrm>
        </p:grpSpPr>
        <p:sp>
          <p:nvSpPr>
            <p:cNvPr id="152" name="曲线"/>
            <p:cNvSpPr>
              <a:spLocks/>
            </p:cNvSpPr>
            <p:nvPr/>
          </p:nvSpPr>
          <p:spPr>
            <a:xfrm rot="0">
              <a:off x="16192499" y="10137247"/>
              <a:ext cx="2283180" cy="16794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53" name="Rectangle"/>
            <p:cNvSpPr>
              <a:spLocks/>
            </p:cNvSpPr>
            <p:nvPr/>
          </p:nvSpPr>
          <p:spPr>
            <a:xfrm rot="0">
              <a:off x="16192499" y="9920256"/>
              <a:ext cx="2283180" cy="38493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grpSp>
        <p:nvGrpSpPr>
          <p:cNvPr id="157" name="Combination"/>
          <p:cNvGrpSpPr>
            <a:grpSpLocks/>
          </p:cNvGrpSpPr>
          <p:nvPr/>
        </p:nvGrpSpPr>
        <p:grpSpPr>
          <a:xfrm>
            <a:off x="1472561" y="5760095"/>
            <a:ext cx="880109" cy="900737"/>
            <a:chOff x="1472561" y="5760095"/>
            <a:chExt cx="880109" cy="900737"/>
          </a:xfrm>
        </p:grpSpPr>
        <p:sp>
          <p:nvSpPr>
            <p:cNvPr id="155" name="曲线"/>
            <p:cNvSpPr>
              <a:spLocks/>
            </p:cNvSpPr>
            <p:nvPr/>
          </p:nvSpPr>
          <p:spPr>
            <a:xfrm rot="0">
              <a:off x="1472561" y="5780723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3EDAD8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56" name="Rectangle"/>
            <p:cNvSpPr>
              <a:spLocks/>
            </p:cNvSpPr>
            <p:nvPr/>
          </p:nvSpPr>
          <p:spPr>
            <a:xfrm rot="0">
              <a:off x="1555071" y="5760095"/>
              <a:ext cx="715089" cy="818227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1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60" name="Combination"/>
          <p:cNvGrpSpPr>
            <a:grpSpLocks/>
          </p:cNvGrpSpPr>
          <p:nvPr/>
        </p:nvGrpSpPr>
        <p:grpSpPr>
          <a:xfrm>
            <a:off x="6149335" y="5760095"/>
            <a:ext cx="880110" cy="900737"/>
            <a:chOff x="6149335" y="5760095"/>
            <a:chExt cx="880110" cy="900737"/>
          </a:xfrm>
        </p:grpSpPr>
        <p:sp>
          <p:nvSpPr>
            <p:cNvPr id="158" name="曲线"/>
            <p:cNvSpPr>
              <a:spLocks/>
            </p:cNvSpPr>
            <p:nvPr/>
          </p:nvSpPr>
          <p:spPr>
            <a:xfrm rot="0">
              <a:off x="6149335" y="5780723"/>
              <a:ext cx="880110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59" name="Rectangle"/>
            <p:cNvSpPr>
              <a:spLocks/>
            </p:cNvSpPr>
            <p:nvPr/>
          </p:nvSpPr>
          <p:spPr>
            <a:xfrm rot="0">
              <a:off x="6231846" y="5760095"/>
              <a:ext cx="715089" cy="818227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2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63" name="Combination"/>
          <p:cNvGrpSpPr>
            <a:grpSpLocks/>
          </p:cNvGrpSpPr>
          <p:nvPr/>
        </p:nvGrpSpPr>
        <p:grpSpPr>
          <a:xfrm>
            <a:off x="10826111" y="5760095"/>
            <a:ext cx="880109" cy="900737"/>
            <a:chOff x="10826111" y="5760095"/>
            <a:chExt cx="880109" cy="900737"/>
          </a:xfrm>
        </p:grpSpPr>
        <p:sp>
          <p:nvSpPr>
            <p:cNvPr id="161" name="曲线"/>
            <p:cNvSpPr>
              <a:spLocks/>
            </p:cNvSpPr>
            <p:nvPr/>
          </p:nvSpPr>
          <p:spPr>
            <a:xfrm rot="0">
              <a:off x="10826111" y="5780723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62" name="Rectangle"/>
            <p:cNvSpPr>
              <a:spLocks/>
            </p:cNvSpPr>
            <p:nvPr/>
          </p:nvSpPr>
          <p:spPr>
            <a:xfrm rot="0">
              <a:off x="10908621" y="5760095"/>
              <a:ext cx="715089" cy="818227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3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grpSp>
        <p:nvGrpSpPr>
          <p:cNvPr id="166" name="Combination"/>
          <p:cNvGrpSpPr>
            <a:grpSpLocks/>
          </p:cNvGrpSpPr>
          <p:nvPr/>
        </p:nvGrpSpPr>
        <p:grpSpPr>
          <a:xfrm>
            <a:off x="15502886" y="5760095"/>
            <a:ext cx="880109" cy="900737"/>
            <a:chOff x="15502886" y="5760095"/>
            <a:chExt cx="880109" cy="900737"/>
          </a:xfrm>
        </p:grpSpPr>
        <p:sp>
          <p:nvSpPr>
            <p:cNvPr id="164" name="曲线"/>
            <p:cNvSpPr>
              <a:spLocks/>
            </p:cNvSpPr>
            <p:nvPr/>
          </p:nvSpPr>
          <p:spPr>
            <a:xfrm rot="0">
              <a:off x="15502886" y="5780723"/>
              <a:ext cx="880109" cy="88011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2C92D5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65" name="Rectangle"/>
            <p:cNvSpPr>
              <a:spLocks/>
            </p:cNvSpPr>
            <p:nvPr/>
          </p:nvSpPr>
          <p:spPr>
            <a:xfrm rot="0">
              <a:off x="15585396" y="5760095"/>
              <a:ext cx="715089" cy="818227"/>
            </a:xfrm>
            <a:prstGeom prst="rect"/>
            <a:noFill/>
            <a:ln w="12700" cmpd="sng" cap="flat">
              <a:noFill/>
              <a:prstDash val="solid"/>
              <a:miter/>
            </a:ln>
          </p:spPr>
          <p:txBody>
            <a:bodyPr vert="horz" wrap="square" lIns="50800" tIns="50800" rIns="50800" bIns="50800" anchor="ctr" anchorCtr="0">
              <a:prstTxWarp prst="textNoShape"/>
            </a:bodyPr>
            <a:lstStyle/>
            <a:p>
              <a:pPr marL="0" indent="0" algn="ctr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3200" b="0" i="0" u="none" strike="noStrike" kern="1200" cap="none" spc="96" baseline="0">
                  <a:solidFill>
                    <a:srgbClr val="FFFFFF"/>
                  </a:solidFill>
                  <a:latin typeface="Aileron" pitchFamily="0" charset="0"/>
                  <a:ea typeface="Aileron" pitchFamily="0" charset="0"/>
                  <a:cs typeface="Aileron" pitchFamily="0" charset="0"/>
                  <a:sym typeface="Aileron" pitchFamily="0" charset="0"/>
                </a:rPr>
                <a:t>4</a:t>
              </a:r>
              <a:endParaRPr lang="zh-CN" altLang="en-US" sz="3200" b="0" i="0" u="none" strike="noStrike" kern="1200" cap="none" spc="96" baseline="0">
                <a:solidFill>
                  <a:srgbClr val="FFFFFF"/>
                </a:solidFill>
                <a:latin typeface="Aileron" pitchFamily="0" charset="0"/>
                <a:ea typeface="Aileron" pitchFamily="0" charset="0"/>
                <a:cs typeface="Aileron" pitchFamily="0" charset="0"/>
                <a:sym typeface="Aileron" pitchFamily="0" charset="0"/>
              </a:endParaRPr>
            </a:p>
          </p:txBody>
        </p:sp>
      </p:grpSp>
      <p:sp>
        <p:nvSpPr>
          <p:cNvPr id="167" name="Straight line"/>
          <p:cNvSpPr>
            <a:spLocks/>
          </p:cNvSpPr>
          <p:nvPr/>
        </p:nvSpPr>
        <p:spPr>
          <a:xfrm rot="0">
            <a:off x="7029445" y="6220778"/>
            <a:ext cx="3796664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68" name="Straight line"/>
          <p:cNvSpPr>
            <a:spLocks/>
          </p:cNvSpPr>
          <p:nvPr/>
        </p:nvSpPr>
        <p:spPr>
          <a:xfrm rot="0">
            <a:off x="11706221" y="6182678"/>
            <a:ext cx="3796665" cy="0"/>
          </a:xfrm>
          <a:prstGeom prst="line"/>
          <a:noFill/>
          <a:ln w="76200" cmpd="sng" cap="flat">
            <a:solidFill>
              <a:srgbClr val="3EDAD8"/>
            </a:solidFill>
            <a:prstDash val="solid"/>
            <a:round/>
          </a:ln>
        </p:spPr>
      </p:sp>
      <p:sp>
        <p:nvSpPr>
          <p:cNvPr id="169" name="Rectangle"/>
          <p:cNvSpPr>
            <a:spLocks/>
          </p:cNvSpPr>
          <p:nvPr/>
        </p:nvSpPr>
        <p:spPr>
          <a:xfrm rot="0">
            <a:off x="14604625" y="4690110"/>
            <a:ext cx="2676630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Output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  <p:sp>
        <p:nvSpPr>
          <p:cNvPr id="170" name="Rectangle"/>
          <p:cNvSpPr>
            <a:spLocks/>
          </p:cNvSpPr>
          <p:nvPr/>
        </p:nvSpPr>
        <p:spPr>
          <a:xfrm rot="0">
            <a:off x="9333592" y="4690110"/>
            <a:ext cx="3862610" cy="6094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99" b="0" i="0" u="none" strike="noStrike" kern="1200" cap="none" spc="95" baseline="0">
                <a:solidFill>
                  <a:srgbClr val="191919"/>
                </a:solidFill>
                <a:latin typeface="Aileron Bold" pitchFamily="0" charset="0"/>
                <a:ea typeface="Aileron Bold" pitchFamily="0" charset="0"/>
                <a:cs typeface="Aileron Bold" pitchFamily="0" charset="0"/>
                <a:sym typeface="Aileron Bold" pitchFamily="0" charset="0"/>
              </a:rPr>
              <a:t>Comparission</a:t>
            </a:r>
            <a:endParaRPr lang="zh-CN" altLang="en-US" sz="3199" b="0" i="0" u="none" strike="noStrike" kern="1200" cap="none" spc="95" baseline="0">
              <a:solidFill>
                <a:srgbClr val="191919"/>
              </a:solidFill>
              <a:latin typeface="Aileron Bold" pitchFamily="0" charset="0"/>
              <a:ea typeface="Aileron Bold" pitchFamily="0" charset="0"/>
              <a:cs typeface="Aileron Bold" pitchFamily="0" charset="0"/>
              <a:sym typeface="Aileron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331251"/>
      </p:ext>
    </p:extLst>
  </p:cSld>
  <p:clrMapOvr>
    <a:masterClrMapping/>
  </p:clrMapOvr>
  <p:transition>
    <p:fade/>
  </p:transition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"/>
          <p:cNvSpPr>
            <a:spLocks/>
          </p:cNvSpPr>
          <p:nvPr/>
        </p:nvSpPr>
        <p:spPr>
          <a:xfrm rot="0">
            <a:off x="1028700" y="1002601"/>
            <a:ext cx="14291212" cy="8764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600" b="0" i="0" u="none" strike="noStrike" kern="1200" cap="none" spc="-168" baseline="0">
                <a:solidFill>
                  <a:srgbClr val="3EDAD8"/>
                </a:solidFill>
                <a:latin typeface="Aileron Ultra-Bold" pitchFamily="0" charset="0"/>
                <a:ea typeface="Aileron Ultra-Bold" pitchFamily="0" charset="0"/>
                <a:cs typeface="Aileron Ultra-Bold" pitchFamily="0" charset="0"/>
                <a:sym typeface="Aileron Ultra-Bold" pitchFamily="0" charset="0"/>
              </a:rPr>
              <a:t>Advantages</a:t>
            </a:r>
            <a:endParaRPr lang="zh-CN" altLang="en-US" sz="5600" b="0" i="0" u="none" strike="noStrike" kern="1200" cap="none" spc="-168" baseline="0">
              <a:solidFill>
                <a:srgbClr val="3EDAD8"/>
              </a:solidFill>
              <a:latin typeface="Aileron Ultra-Bold" pitchFamily="0" charset="0"/>
              <a:ea typeface="Aileron Ultra-Bold" pitchFamily="0" charset="0"/>
              <a:cs typeface="Aileron Ultra-Bold" pitchFamily="0" charset="0"/>
              <a:sym typeface="Aileron Ultra-Bold" pitchFamily="0" charset="0"/>
            </a:endParaRPr>
          </a:p>
        </p:txBody>
      </p:sp>
      <p:sp>
        <p:nvSpPr>
          <p:cNvPr id="172" name="曲线"/>
          <p:cNvSpPr>
            <a:spLocks/>
          </p:cNvSpPr>
          <p:nvPr/>
        </p:nvSpPr>
        <p:spPr>
          <a:xfrm rot="0">
            <a:off x="16834376" y="622825"/>
            <a:ext cx="811749" cy="8117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73" name="Rectangle"/>
          <p:cNvSpPr>
            <a:spLocks/>
          </p:cNvSpPr>
          <p:nvPr/>
        </p:nvSpPr>
        <p:spPr>
          <a:xfrm rot="0">
            <a:off x="1028700" y="3277552"/>
            <a:ext cx="8411211" cy="35735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Accuracy: SSIM provides a reliable similarity measure.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Automation: Reduces manual effort in signature verification.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Time-Efficient: Can process multiple signatures quickly.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431480"/>
      </p:ext>
    </p:extLst>
  </p:cSld>
  <p:clrMapOvr>
    <a:masterClrMapping/>
  </p:clrMapOvr>
  <p:transition>
    <p:fade/>
  </p:transition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"/>
          <p:cNvSpPr>
            <a:spLocks/>
          </p:cNvSpPr>
          <p:nvPr/>
        </p:nvSpPr>
        <p:spPr>
          <a:xfrm rot="0">
            <a:off x="1028700" y="1002601"/>
            <a:ext cx="14291212" cy="8764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600" b="0" i="0" u="none" strike="noStrike" kern="1200" cap="none" spc="-168" baseline="0">
                <a:solidFill>
                  <a:srgbClr val="3EDAD8"/>
                </a:solidFill>
                <a:latin typeface="Aileron Ultra-Bold" pitchFamily="0" charset="0"/>
                <a:ea typeface="Aileron Ultra-Bold" pitchFamily="0" charset="0"/>
                <a:cs typeface="Aileron Ultra-Bold" pitchFamily="0" charset="0"/>
                <a:sym typeface="Aileron Ultra-Bold" pitchFamily="0" charset="0"/>
              </a:rPr>
              <a:t>Limitations</a:t>
            </a:r>
            <a:endParaRPr lang="zh-CN" altLang="en-US" sz="5600" b="0" i="0" u="none" strike="noStrike" kern="1200" cap="none" spc="-168" baseline="0">
              <a:solidFill>
                <a:srgbClr val="3EDAD8"/>
              </a:solidFill>
              <a:latin typeface="Aileron Ultra-Bold" pitchFamily="0" charset="0"/>
              <a:ea typeface="Aileron Ultra-Bold" pitchFamily="0" charset="0"/>
              <a:cs typeface="Aileron Ultra-Bold" pitchFamily="0" charset="0"/>
              <a:sym typeface="Aileron Ultra-Bold" pitchFamily="0" charset="0"/>
            </a:endParaRPr>
          </a:p>
        </p:txBody>
      </p:sp>
      <p:sp>
        <p:nvSpPr>
          <p:cNvPr id="175" name="曲线"/>
          <p:cNvSpPr>
            <a:spLocks/>
          </p:cNvSpPr>
          <p:nvPr/>
        </p:nvSpPr>
        <p:spPr>
          <a:xfrm rot="0">
            <a:off x="16834376" y="622825"/>
            <a:ext cx="811749" cy="8117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76" name="Rectangle"/>
          <p:cNvSpPr>
            <a:spLocks/>
          </p:cNvSpPr>
          <p:nvPr/>
        </p:nvSpPr>
        <p:spPr>
          <a:xfrm rot="0">
            <a:off x="1028700" y="3277552"/>
            <a:ext cx="8411211" cy="410678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Simple Approach: Works well for basic signatures, but may struggle with complex or highly distorted signatures.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Sensitivity to Image Quality: Noise and resolution can affect results.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Threshold Adjustment: The SSIM threshold may need tuning for different use cases.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466131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"/>
          <p:cNvSpPr>
            <a:spLocks/>
          </p:cNvSpPr>
          <p:nvPr/>
        </p:nvSpPr>
        <p:spPr>
          <a:xfrm rot="0">
            <a:off x="1028700" y="1002601"/>
            <a:ext cx="14291212" cy="8764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600" b="0" i="0" u="none" strike="noStrike" kern="1200" cap="none" spc="-168" baseline="0">
                <a:solidFill>
                  <a:srgbClr val="3EDAD8"/>
                </a:solidFill>
                <a:latin typeface="Aileron Ultra-Bold" pitchFamily="0" charset="0"/>
                <a:ea typeface="Aileron Ultra-Bold" pitchFamily="0" charset="0"/>
                <a:cs typeface="Aileron Ultra-Bold" pitchFamily="0" charset="0"/>
                <a:sym typeface="Aileron Ultra-Bold" pitchFamily="0" charset="0"/>
              </a:rPr>
              <a:t>Future Implementations</a:t>
            </a:r>
            <a:endParaRPr lang="zh-CN" altLang="en-US" sz="5600" b="0" i="0" u="none" strike="noStrike" kern="1200" cap="none" spc="-168" baseline="0">
              <a:solidFill>
                <a:srgbClr val="3EDAD8"/>
              </a:solidFill>
              <a:latin typeface="Aileron Ultra-Bold" pitchFamily="0" charset="0"/>
              <a:ea typeface="Aileron Ultra-Bold" pitchFamily="0" charset="0"/>
              <a:cs typeface="Aileron Ultra-Bold" pitchFamily="0" charset="0"/>
              <a:sym typeface="Aileron Ultra-Bold" pitchFamily="0" charset="0"/>
            </a:endParaRPr>
          </a:p>
        </p:txBody>
      </p:sp>
      <p:sp>
        <p:nvSpPr>
          <p:cNvPr id="178" name="曲线"/>
          <p:cNvSpPr>
            <a:spLocks/>
          </p:cNvSpPr>
          <p:nvPr/>
        </p:nvSpPr>
        <p:spPr>
          <a:xfrm rot="0">
            <a:off x="16834376" y="622825"/>
            <a:ext cx="811749" cy="8117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/>
          </a:blipFill>
          <a:ln cmpd="sng" cap="flat">
            <a:noFill/>
            <a:prstDash val="solid"/>
            <a:miter/>
          </a:ln>
        </p:spPr>
      </p:sp>
      <p:sp>
        <p:nvSpPr>
          <p:cNvPr id="179" name="Rectangle"/>
          <p:cNvSpPr>
            <a:spLocks/>
          </p:cNvSpPr>
          <p:nvPr/>
        </p:nvSpPr>
        <p:spPr>
          <a:xfrm rot="0">
            <a:off x="1028700" y="3277552"/>
            <a:ext cx="8411211" cy="410678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Advanced Feature Extraction: Implement techniques like SIFT, ORB for better accuracy.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Machine Learning: Incorporate machine learning models for more sophisticated signature analysis.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lvl="1" marL="604393" indent="-30226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799" b="0" i="0" u="none" strike="noStrike" kern="1200" cap="none" spc="83" baseline="0">
                <a:solidFill>
                  <a:srgbClr val="FFFFFF"/>
                </a:solidFill>
                <a:latin typeface="Glacial Indifference" pitchFamily="0" charset="0"/>
                <a:ea typeface="Glacial Indifference" pitchFamily="0" charset="0"/>
                <a:cs typeface="Glacial Indifference" pitchFamily="0" charset="0"/>
                <a:sym typeface="Glacial Indifference" pitchFamily="0" charset="0"/>
              </a:rPr>
              <a:t>Noise Reduction: Improve preprocessing to handle noise in scanned documents.</a:t>
            </a:r>
            <a:endParaRPr lang="en-US" altLang="zh-CN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  <a:p>
            <a:pPr marL="0" indent="0"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799" b="0" i="0" u="none" strike="noStrike" kern="1200" cap="none" spc="83" baseline="0">
              <a:solidFill>
                <a:srgbClr val="FFFFFF"/>
              </a:solidFill>
              <a:latin typeface="Glacial Indifference" pitchFamily="0" charset="0"/>
              <a:ea typeface="Glacial Indifference" pitchFamily="0" charset="0"/>
              <a:cs typeface="Glacial Indifference" pitchFamily="0" charset="0"/>
              <a:sym typeface="Glacial Indifferenc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28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Timeline Visual Charts Presentation in Aquamarine Black White Simple Style</dc:title>
  <cp:lastModifiedBy>Mobile phone user</cp:lastModifiedBy>
  <cp:revision>1</cp:revision>
  <dcterms:created xsi:type="dcterms:W3CDTF">2006-08-16T00:00:00Z</dcterms:created>
  <dcterms:modified xsi:type="dcterms:W3CDTF">2025-03-21T16:19:38Z</dcterms:modified>
</cp:coreProperties>
</file>